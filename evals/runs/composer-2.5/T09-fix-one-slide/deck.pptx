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>
    <ns0:sldId id="256" ns1:id="rId8"/>
    <ns0:sldId id="257" ns1:id="rId9"/>
    <ns0:sldId id="258" ns1:id="rId10"/>
    <ns0:sldId id="259" ns1:id="rId11"/>
    <ns0:sldId id="260" ns1:id="rId12"/>
    <ns0:sldId id="261" ns1:id="rId13"/>
    <ns0:sldId id="262" ns1:id="rId14"/>
  </ns0:sldIdLst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Requests</c:v>
                </c:pt>
              </c:strCache>
            </c:strRef>
          </c:tx>
          <c:spPr>
            <a:solidFill>
              <a:srgbClr val="1C98E8"/>
            </a:solidFill>
            <a:ln>
              <a:solidFill>
                <a:srgbClr val="1C98E8"/>
              </a:solidFill>
            </a:ln>
          </c:spPr>
          <c:cat>
            <c:strRef>
              <c:f>Sheet1!$A$2:$A$5</c:f>
              <c:strCache>
                <c:ptCount val="4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18</c:v>
                </c:pt>
                <c:pt idx="2">
                  <c:v>15</c:v>
                </c:pt>
                <c:pt idx="3">
                  <c:v>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Completed</c:v>
                </c:pt>
              </c:strCache>
            </c:strRef>
          </c:tx>
          <c:spPr>
            <a:solidFill>
              <a:srgbClr val="FEC10B"/>
            </a:solidFill>
            <a:ln>
              <a:solidFill>
                <a:srgbClr val="FEC10B"/>
              </a:solidFill>
            </a:ln>
          </c:spPr>
          <c:cat>
            <c:strRef>
              <c:f>Sheet1!$A$2:$A$5</c:f>
              <c:strCache>
                <c:ptCount val="4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</c:v>
                </c:pt>
                <c:pt idx="1">
                  <c:v>14</c:v>
                </c:pt>
                <c:pt idx="2">
                  <c:v>13</c:v>
                </c:pt>
                <c:pt idx="3">
                  <c:v>19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B6C1CC"/>
            </a:solidFill>
          </a:ln>
        </c:spPr>
        <c:txPr>
          <a:bodyPr/>
          <a:lstStyle/>
          <a:p>
            <a:pPr>
              <a:defRPr sz="1000">
                <a:solidFill>
                  <a:srgbClr val="0F2E66"/>
                </a:solidFill>
                <a:latin typeface="Archivo Ligh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B6C1CC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B6C1CC"/>
            </a:solidFill>
          </a:ln>
        </c:spPr>
        <c:txPr>
          <a:bodyPr/>
          <a:lstStyle/>
          <a:p>
            <a:pPr>
              <a:defRPr sz="1000">
                <a:solidFill>
                  <a:srgbClr val="0F2E66"/>
                </a:solidFill>
                <a:latin typeface="Archivo Light"/>
              </a:defRPr>
            </a:pPr>
          </a:p>
        </c:txPr>
        <c:crossAx val="-2068027336"/>
        <c:crosses val="autoZero"/>
      </c:valAx>
    </c:plotArea>
    <c:legend>
      <c:legendPos/>
      <c:overlay val="1"/>
      <c:txPr>
        <a:bodyPr/>
        <a:lstStyle/>
        <a:p>
          <a:pPr>
            <a:defRPr sz="1000">
              <a:solidFill>
                <a:srgbClr val="0F2E66"/>
              </a:solidFill>
              <a:latin typeface="Archivo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Cover. Gradient and smile come from the Title Slide layout.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Title layout. Title is drawn in the open field beside the rail.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and Content layout. Bullets use the layout list style.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Half-width title on the left. Numbered items on the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Only layout plus an on-brand table in the content well.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Column chart using Water Cooler then Lunch Break.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Bumper Slide. Centered smile on Ink. Optional Paper caption.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35808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Planning workshop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Sample deck for the Workday PPTX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4535424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F2E66"/>
                </a:solidFill>
                <a:latin typeface="Archivo"/>
              </a:rP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35808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0F2E66"/>
                </a:solidFill>
                <a:latin typeface="Archivo"/>
              </a:rPr>
              <a:t>Workday Confidential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35808" y="987552"/>
            <a:ext cx="3968496" cy="3749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C98E8"/>
                </a:solidFill>
                <a:latin typeface="Archivo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35808" y="1335024"/>
            <a:ext cx="5129784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F2E66"/>
                </a:solidFill>
                <a:latin typeface="Archivo"/>
              </a:rPr>
              <a:t>What we will cover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One idea per slide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Six bullets at most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Core palette first, secondary colors rarely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Archivo for titles, Archivo Light for body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Agree owners for each next step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the workshop covers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t>Delivery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94944"/>
            <a:ext cx="48463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C98E8"/>
                </a:solidFill>
                <a:latin typeface="Archivo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93208" y="694944"/>
            <a:ext cx="330098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2E66"/>
                </a:solidFill>
                <a:latin typeface="Archivo"/>
              </a:rPr>
              <a:t>Discover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93208" y="987552"/>
            <a:ext cx="3300984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F2E66"/>
                </a:solidFill>
                <a:latin typeface="Archivo Light"/>
              </a:rPr>
              <a:t>Frame the problem, the users, and the outcome before anything is built.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865376"/>
            <a:ext cx="48463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C98E8"/>
                </a:solidFill>
                <a:latin typeface="Archivo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93208" y="1865376"/>
            <a:ext cx="330098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2E66"/>
                </a:solidFill>
                <a:latin typeface="Archivo"/>
              </a:rPr>
              <a:t>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93208" y="2157984"/>
            <a:ext cx="3300984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F2E66"/>
                </a:solidFill>
                <a:latin typeface="Archivo Light"/>
              </a:rPr>
              <a:t>Ship a thin slice, review it with the team, and keep the scope honest.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035808"/>
            <a:ext cx="48463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C98E8"/>
                </a:solidFill>
                <a:latin typeface="Archivo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93208" y="3035808"/>
            <a:ext cx="330098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2E66"/>
                </a:solidFill>
                <a:latin typeface="Archivo"/>
              </a:rPr>
              <a:t>Adopt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93208" y="3328416"/>
            <a:ext cx="3300984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F2E66"/>
                </a:solidFill>
                <a:latin typeface="Archivo Light"/>
              </a:rPr>
              <a:t>Train the people who will run it and measure whether they actually use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25296"/>
          <a:ext cx="82296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Phase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Owner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Status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1C98E8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Discover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Research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Complete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Build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Product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In progress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Adopt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Operations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Next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volume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170432"/>
          <a:ext cx="822960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3273552"/>
            <a:ext cx="6400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FFFFFF"/>
                </a:solidFill>
                <a:latin typeface="Archivo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Planning workshop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
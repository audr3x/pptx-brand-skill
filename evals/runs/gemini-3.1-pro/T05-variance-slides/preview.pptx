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Variance</c:v>
                </c:pt>
              </c:strCache>
            </c:strRef>
          </c:tx>
          <c:spPr>
            <a:solidFill>
              <a:srgbClr val="1C98E8"/>
            </a:solidFill>
            <a:ln>
              <a:solidFill>
                <a:srgbClr val="1C98E8"/>
              </a:solidFill>
            </a:ln>
          </c:spPr>
          <c:cat>
            <c:strRef>
              <c:f>Sheet1!$A$2:$A$6</c:f>
              <c:strCache>
                <c:ptCount val="5"/>
                <c:pt idx="0">
                  <c:v>Facilities</c:v>
                </c:pt>
                <c:pt idx="1">
                  <c:v>IT</c:v>
                </c:pt>
                <c:pt idx="2">
                  <c:v>HR</c:v>
                </c:pt>
                <c:pt idx="3">
                  <c:v>Travel</c:v>
                </c:pt>
                <c:pt idx="4">
                  <c:v>Marketing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</c:v>
                </c:pt>
                <c:pt idx="1">
                  <c:v>-30</c:v>
                </c:pt>
                <c:pt idx="2">
                  <c:v>12</c:v>
                </c:pt>
                <c:pt idx="3">
                  <c:v>-18</c:v>
                </c:pt>
                <c:pt idx="4">
                  <c:v>60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B6C1CC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B6C1CC"/>
            </a:solidFill>
          </a:ln>
        </c:spPr>
        <c:txPr>
          <a:bodyPr/>
          <a:lstStyle/>
          <a:p>
            <a:pPr>
              <a:defRPr sz="1000">
                <a:solidFill>
                  <a:srgbClr val="0F2E66"/>
                </a:solidFill>
                <a:latin typeface="Archivo Light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Budget variance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Operations, first half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Budget variance by department ($k)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170432"/>
          <a:ext cx="8229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Freeze new IT contracts until September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Move travel approvals to directors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Reinvest 40 of the marketing surplus in Q3 events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Budget variance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